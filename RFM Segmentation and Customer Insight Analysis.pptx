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7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8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9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Cambria"/>
              </a:rPr>
              <a:t>Customers per Segment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D4AF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2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4AF3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D7D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504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Champions</c:v>
                  </c:pt>
                  <c:pt idx="1">
                    <c:v>Loyal Customers</c:v>
                  </c:pt>
                  <c:pt idx="2">
                    <c:v>Potential Loyalists</c:v>
                  </c:pt>
                  <c:pt idx="3">
                    <c:v>At Risk</c:v>
                  </c:pt>
                  <c:pt idx="4">
                    <c:v>Requires Activation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162</c:v>
                </c:pt>
                <c:pt idx="1">
                  <c:v>304</c:v>
                </c:pt>
                <c:pt idx="2">
                  <c:v>334</c:v>
                </c:pt>
                <c:pt idx="3">
                  <c:v>130</c:v>
                </c:pt>
                <c:pt idx="4">
                  <c:v>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2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E22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80"/>
          <c:min val="0"/>
        </c:scaling>
        <c:delete val="0"/>
        <c:axPos val="l"/>
        <c:majorGridlines>
          <c:spPr>
            <a:ln w="9525" cap="flat">
              <a:solidFill>
                <a:srgbClr val="E8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5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sz="1350" b="0" i="0" u="none" strike="noStrike">
                <a:solidFill>
                  <a:srgbClr val="1E2761"/>
                </a:solidFill>
                <a:latin typeface="Cambria"/>
              </a:rPr>
              <a:t>Share of Total Revenue ($513,678)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5D7DB8"/>
              </a:solidFill>
              <a:effectLst/>
            </c:spPr>
          </c:dPt>
          <c:dPt>
            <c:idx val="2"/>
            <c:bubble3D val="0"/>
            <c:spPr>
              <a:solidFill>
                <a:srgbClr val="D4AF37"/>
              </a:solidFill>
              <a:effectLst/>
            </c:spPr>
          </c:dPt>
          <c:dPt>
            <c:idx val="3"/>
            <c:bubble3D val="0"/>
            <c:spPr>
              <a:solidFill>
                <a:srgbClr val="C0504D"/>
              </a:solidFill>
              <a:effectLst/>
            </c:spPr>
          </c:dPt>
          <c:dPt>
            <c:idx val="4"/>
            <c:bubble3D val="0"/>
            <c:spPr>
              <a:solidFill>
                <a:srgbClr val="9CA3AF"/>
              </a:solidFill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.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.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Loyal Customers</c:v>
                </c:pt>
                <c:pt idx="1">
                  <c:v>Potential Loyalists</c:v>
                </c:pt>
                <c:pt idx="2">
                  <c:v>Champions</c:v>
                </c:pt>
                <c:pt idx="3">
                  <c:v>At Risk</c:v>
                </c:pt>
                <c:pt idx="4">
                  <c:v>Requires Activation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184719.62</c:v>
                </c:pt>
                <c:pt idx="1">
                  <c:v>143807.24</c:v>
                </c:pt>
                <c:pt idx="2">
                  <c:v>142296.46</c:v>
                </c:pt>
                <c:pt idx="3">
                  <c:v>40604.72</c:v>
                </c:pt>
                <c:pt idx="4">
                  <c:v>2249.77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1E22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5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sz="1350" b="0" i="0" u="none" strike="noStrike">
                <a:solidFill>
                  <a:srgbClr val="1E2761"/>
                </a:solidFill>
                <a:latin typeface="Cambria"/>
              </a:rPr>
              <a:t>Customers by Days Since Last Purchase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5D7D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2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0–10</c:v>
                  </c:pt>
                  <c:pt idx="1">
                    <c:v>11–20</c:v>
                  </c:pt>
                  <c:pt idx="2">
                    <c:v>21–30</c:v>
                  </c:pt>
                  <c:pt idx="3">
                    <c:v>31–40</c:v>
                  </c:pt>
                  <c:pt idx="4">
                    <c:v>41–50</c:v>
                  </c:pt>
                  <c:pt idx="5">
                    <c:v>51–60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143</c:v>
                </c:pt>
                <c:pt idx="1">
                  <c:v>181</c:v>
                </c:pt>
                <c:pt idx="2">
                  <c:v>121</c:v>
                </c:pt>
                <c:pt idx="3">
                  <c:v>175</c:v>
                </c:pt>
                <c:pt idx="4">
                  <c:v>167</c:v>
                </c:pt>
                <c:pt idx="5">
                  <c:v>152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2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E22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0"/>
          <c:min val="0"/>
        </c:scaling>
        <c:delete val="0"/>
        <c:axPos val="l"/>
        <c:majorGridlines>
          <c:spPr>
            <a:ln w="9525" cap="flat">
              <a:solidFill>
                <a:srgbClr val="E8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mbria"/>
              </a:rPr>
              <a:t>Purchase Frequency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E22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order</c:v>
                  </c:pt>
                  <c:pt idx="1">
                    <c:v>2 orders</c:v>
                  </c:pt>
                  <c:pt idx="2">
                    <c:v>3 orders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895</c:v>
                </c:pt>
                <c:pt idx="1">
                  <c:v>48</c:v>
                </c:pt>
                <c:pt idx="2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1E22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E22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"/>
          <c:min val="0"/>
        </c:scaling>
        <c:delete val="0"/>
        <c:axPos val="l"/>
        <c:majorGridlines>
          <c:spPr>
            <a:ln w="9525" cap="flat">
              <a:solidFill>
                <a:srgbClr val="E8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mbria"/>
              </a:rPr>
              <a:t>Monetary Value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D4AF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E22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0–200</c:v>
                  </c:pt>
                  <c:pt idx="1">
                    <c:v>200–400</c:v>
                  </c:pt>
                  <c:pt idx="2">
                    <c:v>400–600</c:v>
                  </c:pt>
                  <c:pt idx="3">
                    <c:v>600–800</c:v>
                  </c:pt>
                  <c:pt idx="4">
                    <c:v>800–1000</c:v>
                  </c:pt>
                  <c:pt idx="5">
                    <c:v>1000–1500</c:v>
                  </c:pt>
                  <c:pt idx="6">
                    <c:v>1500+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179</c:v>
                </c:pt>
                <c:pt idx="1">
                  <c:v>172</c:v>
                </c:pt>
                <c:pt idx="2">
                  <c:v>170</c:v>
                </c:pt>
                <c:pt idx="3">
                  <c:v>208</c:v>
                </c:pt>
                <c:pt idx="4">
                  <c:v>187</c:v>
                </c:pt>
                <c:pt idx="5">
                  <c:v>20</c:v>
                </c:pt>
                <c:pt idx="6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1E22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E22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0"/>
          <c:min val="0"/>
        </c:scaling>
        <c:delete val="0"/>
        <c:axPos val="l"/>
        <c:majorGridlines>
          <c:spPr>
            <a:ln w="9525" cap="flat">
              <a:solidFill>
                <a:srgbClr val="E8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mbria"/>
              </a:rPr>
              <a:t>Top 10 Three-Digit RFM Codes (R-F-M)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E22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504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D7D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D7D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AF3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0504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5D7DB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5D7DB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5D7DB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5D7DB8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5D7DB8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244</c:v>
                  </c:pt>
                  <c:pt idx="1">
                    <c:v>314</c:v>
                  </c:pt>
                  <c:pt idx="2">
                    <c:v>432</c:v>
                  </c:pt>
                  <c:pt idx="3">
                    <c:v>444</c:v>
                  </c:pt>
                  <c:pt idx="4">
                    <c:v>344</c:v>
                  </c:pt>
                  <c:pt idx="5">
                    <c:v>421</c:v>
                  </c:pt>
                  <c:pt idx="6">
                    <c:v>433</c:v>
                  </c:pt>
                  <c:pt idx="7">
                    <c:v>234</c:v>
                  </c:pt>
                  <c:pt idx="8">
                    <c:v>133</c:v>
                  </c:pt>
                  <c:pt idx="9">
                    <c:v>231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25</c:v>
                </c:pt>
                <c:pt idx="1">
                  <c:v>21</c:v>
                </c:pt>
                <c:pt idx="2">
                  <c:v>21</c:v>
                </c:pt>
                <c:pt idx="3">
                  <c:v>20</c:v>
                </c:pt>
                <c:pt idx="4">
                  <c:v>20</c:v>
                </c:pt>
                <c:pt idx="5">
                  <c:v>20</c:v>
                </c:pt>
                <c:pt idx="6">
                  <c:v>20</c:v>
                </c:pt>
                <c:pt idx="7">
                  <c:v>20</c:v>
                </c:pt>
                <c:pt idx="8">
                  <c:v>20</c:v>
                </c:pt>
                <c:pt idx="9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1E22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2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9525" cap="flat">
              <a:solidFill>
                <a:srgbClr val="E8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5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sz="1350" b="0" i="0" u="none" strike="noStrike">
                <a:solidFill>
                  <a:srgbClr val="1E2761"/>
                </a:solidFill>
                <a:latin typeface="Cambria"/>
              </a:rPr>
              <a:t>Purchases by Product &amp; Segment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Champions</c:v>
                </c:pt>
              </c:strCache>
            </c:strRef>
          </c:tx>
          <c:spPr>
            <a:solidFill>
              <a:srgbClr val="D4AF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Product A</c:v>
                  </c:pt>
                  <c:pt idx="1">
                    <c:v>Product B</c:v>
                  </c:pt>
                  <c:pt idx="2">
                    <c:v>Product C</c:v>
                  </c:pt>
                  <c:pt idx="3">
                    <c:v>Product 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</c:v>
                </c:pt>
                <c:pt idx="1">
                  <c:v>53</c:v>
                </c:pt>
                <c:pt idx="2">
                  <c:v>63</c:v>
                </c:pt>
                <c:pt idx="3">
                  <c:v>49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Loyal Customers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Product A</c:v>
                  </c:pt>
                  <c:pt idx="1">
                    <c:v>Product B</c:v>
                  </c:pt>
                  <c:pt idx="2">
                    <c:v>Product C</c:v>
                  </c:pt>
                  <c:pt idx="3">
                    <c:v>Product D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69</c:v>
                </c:pt>
                <c:pt idx="1">
                  <c:v>84</c:v>
                </c:pt>
                <c:pt idx="2">
                  <c:v>90</c:v>
                </c:pt>
                <c:pt idx="3">
                  <c:v>68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Potential Loyalists</c:v>
                </c:pt>
              </c:strCache>
            </c:strRef>
          </c:tx>
          <c:spPr>
            <a:solidFill>
              <a:srgbClr val="5D7D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Product A</c:v>
                  </c:pt>
                  <c:pt idx="1">
                    <c:v>Product B</c:v>
                  </c:pt>
                  <c:pt idx="2">
                    <c:v>Product C</c:v>
                  </c:pt>
                  <c:pt idx="3">
                    <c:v>Product D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82</c:v>
                </c:pt>
                <c:pt idx="1">
                  <c:v>76</c:v>
                </c:pt>
                <c:pt idx="2">
                  <c:v>77</c:v>
                </c:pt>
                <c:pt idx="3">
                  <c:v>100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At Risk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Product A</c:v>
                  </c:pt>
                  <c:pt idx="1">
                    <c:v>Product B</c:v>
                  </c:pt>
                  <c:pt idx="2">
                    <c:v>Product C</c:v>
                  </c:pt>
                  <c:pt idx="3">
                    <c:v>Product D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27</c:v>
                </c:pt>
                <c:pt idx="1">
                  <c:v>29</c:v>
                </c:pt>
                <c:pt idx="2">
                  <c:v>40</c:v>
                </c:pt>
                <c:pt idx="3">
                  <c:v>34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Requires Activation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Product A</c:v>
                  </c:pt>
                  <c:pt idx="1">
                    <c:v>Product B</c:v>
                  </c:pt>
                  <c:pt idx="2">
                    <c:v>Product C</c:v>
                  </c:pt>
                  <c:pt idx="3">
                    <c:v>Product D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7</c:v>
                </c:pt>
                <c:pt idx="3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2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8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E22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Cambria"/>
              </a:rPr>
              <a:t>Revenue by City ($)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D4AF37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2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4AF3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D7D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Tokyo</c:v>
                  </c:pt>
                  <c:pt idx="1">
                    <c:v>New York</c:v>
                  </c:pt>
                  <c:pt idx="2">
                    <c:v>London</c:v>
                  </c:pt>
                  <c:pt idx="3">
                    <c:v>Paris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139336.06</c:v>
                </c:pt>
                <c:pt idx="1">
                  <c:v>132102.79</c:v>
                </c:pt>
                <c:pt idx="2">
                  <c:v>129797.9</c:v>
                </c:pt>
                <c:pt idx="3">
                  <c:v>112441.06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2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2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000"/>
          <c:min val="0"/>
        </c:scaling>
        <c:delete val="0"/>
        <c:axPos val="b"/>
        <c:majorGridlines>
          <c:spPr>
            <a:ln w="9525" cap="flat">
              <a:solidFill>
                <a:srgbClr val="E8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5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sz="1350" b="0" i="0" u="none" strike="noStrike">
                <a:solidFill>
                  <a:srgbClr val="1E2761"/>
                </a:solidFill>
                <a:latin typeface="Cambria"/>
              </a:rPr>
              <a:t>Revenue by Day of Week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2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D7D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4AF37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72988.02</c:v>
                </c:pt>
                <c:pt idx="1">
                  <c:v>67720.21</c:v>
                </c:pt>
                <c:pt idx="2">
                  <c:v>76735.87</c:v>
                </c:pt>
                <c:pt idx="3">
                  <c:v>72934.36</c:v>
                </c:pt>
                <c:pt idx="4">
                  <c:v>73648.3</c:v>
                </c:pt>
                <c:pt idx="5">
                  <c:v>84535.58</c:v>
                </c:pt>
                <c:pt idx="6">
                  <c:v>65115.47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2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E22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00"/>
          <c:min val="0"/>
        </c:scaling>
        <c:delete val="0"/>
        <c:axPos val="l"/>
        <c:majorGridlines>
          <c:spPr>
            <a:ln w="9525" cap="flat">
              <a:solidFill>
                <a:srgbClr val="E8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5029200" cy="50292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457200"/>
            <a:ext cx="3017520" cy="3017520"/>
          </a:xfrm>
          <a:prstGeom prst="ellipse">
            <a:avLst/>
          </a:prstGeom>
          <a:solidFill>
            <a:srgbClr val="24316F"/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274320"/>
            <a:ext cx="1554480" cy="155448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48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  |  EDA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RFM Segmentation and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Insight Analysis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42519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transaction history into a story about who your customers are—and what keeps them coming back.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074920"/>
            <a:ext cx="201168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2578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Urmila Palwal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5778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August 2026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58978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NumPy · EDA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· 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customer story starts with the raw transaction log. Here's the shape of the dataset before any modelling begins.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EEF2F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93392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82880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EEF2FB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993392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946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91840" y="26974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82880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EEF2FB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0" y="1993392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$513,678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035040" y="26974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778240" y="182880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EEF2FB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0" y="1993392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778240" y="26974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Served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520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Fields Captured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86200"/>
          <a:ext cx="5577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5661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customer identifier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PurchaseDate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of transaction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TransactionAmount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value in USD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ProductInformation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purchased (A–D)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order identifier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city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6492240" y="35204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&amp; Quality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492240" y="38862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132320" y="38862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window: 11 Apr 2023 – 10 Jun 2023 (≈ 2 months)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492240" y="4398264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4" name="Text 21"/>
          <p:cNvSpPr/>
          <p:nvPr/>
        </p:nvSpPr>
        <p:spPr>
          <a:xfrm>
            <a:off x="6492240" y="43982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132320" y="439826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missing values across all six fields — clean at intake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492240" y="4910328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7" name="Text 24"/>
          <p:cNvSpPr/>
          <p:nvPr/>
        </p:nvSpPr>
        <p:spPr>
          <a:xfrm>
            <a:off x="6492240" y="4910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7132320" y="491032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cities: Tokyo, New York, London, Paris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492240" y="542239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0" name="Text 27"/>
          <p:cNvSpPr/>
          <p:nvPr/>
        </p:nvSpPr>
        <p:spPr>
          <a:xfrm>
            <a:off x="6492240" y="5422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7132320" y="542239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products: Product A, B, C, D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492240" y="5934456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3" name="Text 30"/>
          <p:cNvSpPr/>
          <p:nvPr/>
        </p:nvSpPr>
        <p:spPr>
          <a:xfrm>
            <a:off x="6492240" y="59344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7132320" y="593445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value: $513.68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Segmentation and Customer Insight Analysis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· THE QUESTION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08760"/>
            <a:ext cx="10332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946 customers are equal — but the raw transaction log treats them that way. Without a way to separate a one-time bargain hunter from a loyal, high-spending champion, marketing dollars get spread thin instead of aimed with intent.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needs to answer: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EEF2FB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3611880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611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42519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valuable?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46634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customers drive the most recent, frequent, and high-value purchases?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25112" y="333756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EEF2FB"/>
          </a:solidFill>
          <a:ln/>
        </p:spPr>
      </p:sp>
      <p:sp>
        <p:nvSpPr>
          <p:cNvPr id="13" name="Shape 11"/>
          <p:cNvSpPr/>
          <p:nvPr/>
        </p:nvSpPr>
        <p:spPr>
          <a:xfrm>
            <a:off x="4599432" y="3611880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4599432" y="3611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99432" y="42519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at risk?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99432" y="46634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segments show declining engagement and early churn signals?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01584" y="333756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EEF2FB"/>
          </a:solidFill>
          <a:ln/>
        </p:spPr>
      </p:sp>
      <p:sp>
        <p:nvSpPr>
          <p:cNvPr id="18" name="Shape 16"/>
          <p:cNvSpPr/>
          <p:nvPr/>
        </p:nvSpPr>
        <p:spPr>
          <a:xfrm>
            <a:off x="8375904" y="3611880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9" name="Text 17"/>
          <p:cNvSpPr/>
          <p:nvPr/>
        </p:nvSpPr>
        <p:spPr>
          <a:xfrm>
            <a:off x="8375904" y="3611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75904" y="42519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invest?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75904" y="46634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marketing, product, and regional strategy be prioritized by segment?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 apply RFM (Recency, Frequency, Monetary) segmentation to the 2023 transaction log, then translate the segments into targeted marketing, product, and regional recommendations.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Segmentation and Customer Insight Analysis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· THE 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RFM Segmentation Works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signals, scored 1–4 by quartile, combined into one segment per customer.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EEF2FB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130552"/>
            <a:ext cx="640080" cy="640080"/>
          </a:xfrm>
          <a:prstGeom prst="ellipse">
            <a:avLst/>
          </a:prstGeom>
          <a:solidFill>
            <a:srgbClr val="5D7DB8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1305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600200" y="216712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Recency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04672" y="2880360"/>
            <a:ext cx="3008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last purchase. Fewer days → higher score.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25112" y="187452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EEF2FB"/>
          </a:solidFill>
          <a:ln/>
        </p:spPr>
      </p:sp>
      <p:sp>
        <p:nvSpPr>
          <p:cNvPr id="11" name="Shape 9"/>
          <p:cNvSpPr/>
          <p:nvPr/>
        </p:nvSpPr>
        <p:spPr>
          <a:xfrm>
            <a:off x="4581144" y="213055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581144" y="21305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376672" y="216712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Frequency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81144" y="2880360"/>
            <a:ext cx="3008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orders placed. More orders → higher score.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01584" y="187452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EEF2FB"/>
          </a:solidFill>
          <a:ln/>
        </p:spPr>
      </p:sp>
      <p:sp>
        <p:nvSpPr>
          <p:cNvPr id="16" name="Shape 14"/>
          <p:cNvSpPr/>
          <p:nvPr/>
        </p:nvSpPr>
        <p:spPr>
          <a:xfrm>
            <a:off x="8357616" y="2130552"/>
            <a:ext cx="640080" cy="64008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7" name="Text 15"/>
          <p:cNvSpPr/>
          <p:nvPr/>
        </p:nvSpPr>
        <p:spPr>
          <a:xfrm>
            <a:off x="8357616" y="21305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53144" y="216712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Monetary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57616" y="2880360"/>
            <a:ext cx="3008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amount spent. Higher spend → higher score.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3886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 Thresholds (combined RFM score, max 12)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5196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280160"/>
                <a:gridCol w="7315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Champions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Recent, frequent, high spenders — brand advocates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Loyal Customers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frequency &amp; spend, relatively recent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D7D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Potential Loyalists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Recent buyers, average spend / frequency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Haven't purchased recently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Activation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 scores across the 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Segmentation and Customer Insight Analysis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· WHO ARE THEY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Distribution Across Segments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34440"/>
          <a:ext cx="694944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680960" y="12801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680960" y="1691640"/>
            <a:ext cx="4023360" cy="1234440"/>
          </a:xfrm>
          <a:prstGeom prst="roundRect">
            <a:avLst>
              <a:gd name="adj" fmla="val 4444"/>
            </a:avLst>
          </a:prstGeom>
          <a:solidFill>
            <a:srgbClr val="EEF2FB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0" y="178308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healthy middle: 334 Potential Loyalists + 304 Loyal Customers make up 67% of the base — an engaged core ready to be nurtured.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680960" y="3108960"/>
            <a:ext cx="4023360" cy="1234440"/>
          </a:xfrm>
          <a:prstGeom prst="roundRect">
            <a:avLst>
              <a:gd name="adj" fmla="val 4444"/>
            </a:avLst>
          </a:prstGeom>
          <a:solidFill>
            <a:srgbClr val="EEF2FB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0" y="320040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 Champions is a strong top tier — the brand's advocates and biggest revenue drivers.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680960" y="4526280"/>
            <a:ext cx="4023360" cy="1234440"/>
          </a:xfrm>
          <a:prstGeom prst="roundRect">
            <a:avLst>
              <a:gd name="adj" fmla="val 4444"/>
            </a:avLst>
          </a:prstGeom>
          <a:solidFill>
            <a:srgbClr val="EEF2FB"/>
          </a:solidFill>
          <a:ln/>
        </p:spPr>
      </p:sp>
      <p:sp>
        <p:nvSpPr>
          <p:cNvPr id="11" name="Text 8"/>
          <p:cNvSpPr/>
          <p:nvPr/>
        </p:nvSpPr>
        <p:spPr>
          <a:xfrm>
            <a:off x="7863840" y="461772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146 customers (At Risk + Requires Activation) sit in the danger zone — a contained, manageable churn risk.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Segmentation and Customer Insight Analysis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· WHO PAYS THE BILLS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Contribution by Segment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34440"/>
          <a:ext cx="603504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949440" y="1280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949440" y="1691640"/>
            <a:ext cx="4754880" cy="1234440"/>
          </a:xfrm>
          <a:prstGeom prst="roundRect">
            <a:avLst>
              <a:gd name="adj" fmla="val 4444"/>
            </a:avLst>
          </a:prstGeom>
          <a:solidFill>
            <a:srgbClr val="EEF2FB"/>
          </a:solidFill>
          <a:ln/>
        </p:spPr>
      </p:sp>
      <p:sp>
        <p:nvSpPr>
          <p:cNvPr id="7" name="Text 4"/>
          <p:cNvSpPr/>
          <p:nvPr/>
        </p:nvSpPr>
        <p:spPr>
          <a:xfrm>
            <a:off x="7132320" y="1783080"/>
            <a:ext cx="4389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Pareto principle in action: Champions are only 17% of customers but generate 27.7% of revenue.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949440" y="3108960"/>
            <a:ext cx="4754880" cy="1234440"/>
          </a:xfrm>
          <a:prstGeom prst="roundRect">
            <a:avLst>
              <a:gd name="adj" fmla="val 4444"/>
            </a:avLst>
          </a:prstGeom>
          <a:solidFill>
            <a:srgbClr val="EEF2FB"/>
          </a:solidFill>
          <a:ln/>
        </p:spPr>
      </p:sp>
      <p:sp>
        <p:nvSpPr>
          <p:cNvPr id="9" name="Text 6"/>
          <p:cNvSpPr/>
          <p:nvPr/>
        </p:nvSpPr>
        <p:spPr>
          <a:xfrm>
            <a:off x="7132320" y="3200400"/>
            <a:ext cx="4389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Customers are the core revenue engine at 36.0% — combined with Champions, the top tier drives nearly 64% of all sales.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949440" y="4526280"/>
            <a:ext cx="4754880" cy="1234440"/>
          </a:xfrm>
          <a:prstGeom prst="roundRect">
            <a:avLst>
              <a:gd name="adj" fmla="val 4444"/>
            </a:avLst>
          </a:prstGeom>
          <a:solidFill>
            <a:srgbClr val="EEF2FB"/>
          </a:solidFill>
          <a:ln/>
        </p:spPr>
      </p:sp>
      <p:sp>
        <p:nvSpPr>
          <p:cNvPr id="11" name="Text 8"/>
          <p:cNvSpPr/>
          <p:nvPr/>
        </p:nvSpPr>
        <p:spPr>
          <a:xfrm>
            <a:off x="7132320" y="4617720"/>
            <a:ext cx="4389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 and Requires Activation together contribute just 8.3% — low financial exposure, but a warning sign for future revenue.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Segmentation and Customer Insight Analysis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· HOW RECENTLY THEY BOUGHT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Recency Distribution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34440"/>
          <a:ext cx="694944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17220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last purchase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680960" y="12801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680960" y="1691640"/>
            <a:ext cx="4023360" cy="1234440"/>
          </a:xfrm>
          <a:prstGeom prst="roundRect">
            <a:avLst>
              <a:gd name="adj" fmla="val 4444"/>
            </a:avLst>
          </a:prstGeom>
          <a:solidFill>
            <a:srgbClr val="EEF2FB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0" y="178308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is spread fairly evenly across the two-month window — no single cliff-edge of inactivity.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680960" y="3108960"/>
            <a:ext cx="4023360" cy="1234440"/>
          </a:xfrm>
          <a:prstGeom prst="roundRect">
            <a:avLst>
              <a:gd name="adj" fmla="val 4444"/>
            </a:avLst>
          </a:prstGeom>
          <a:solidFill>
            <a:srgbClr val="EEF2FB"/>
          </a:solidFill>
          <a:ln/>
        </p:spPr>
      </p:sp>
      <p:sp>
        <p:nvSpPr>
          <p:cNvPr id="10" name="Text 7"/>
          <p:cNvSpPr/>
          <p:nvPr/>
        </p:nvSpPr>
        <p:spPr>
          <a:xfrm>
            <a:off x="7863840" y="320040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41–60 day tail (319 customers) is the group to watch: still recoverable, but drifting toward churn.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680960" y="4526280"/>
            <a:ext cx="4023360" cy="1234440"/>
          </a:xfrm>
          <a:prstGeom prst="roundRect">
            <a:avLst>
              <a:gd name="adj" fmla="val 4444"/>
            </a:avLst>
          </a:prstGeom>
          <a:solidFill>
            <a:srgbClr val="EEF2FB"/>
          </a:solidFill>
          <a:ln/>
        </p:spPr>
      </p:sp>
      <p:sp>
        <p:nvSpPr>
          <p:cNvPr id="12" name="Text 9"/>
          <p:cNvSpPr/>
          <p:nvPr/>
        </p:nvSpPr>
        <p:spPr>
          <a:xfrm>
            <a:off x="7863840" y="461772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0–20 day head (324 customers) is highly engaged — the best moment to ask for reviews or cross-sell.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Segmentation and Customer Insight Analysis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· HOW OFTEN, HOW MUCH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Frequency &amp; Monetary Distributions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54864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126480" y="1371600"/>
          <a:ext cx="54864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5623560"/>
            <a:ext cx="11155680" cy="777240"/>
          </a:xfrm>
          <a:prstGeom prst="roundRect">
            <a:avLst>
              <a:gd name="adj" fmla="val 7059"/>
            </a:avLst>
          </a:prstGeom>
          <a:solidFill>
            <a:srgbClr val="EEF2FB"/>
          </a:solidFill>
          <a:ln/>
        </p:spPr>
      </p:sp>
      <p:sp>
        <p:nvSpPr>
          <p:cNvPr id="7" name="Text 3"/>
          <p:cNvSpPr/>
          <p:nvPr/>
        </p:nvSpPr>
        <p:spPr>
          <a:xfrm>
            <a:off x="685800" y="566928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buNone/>
            </a:pPr>
            <a:r>
              <a:rPr lang="en-US" sz="11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895 of 946 customers (95%) have purchased only once — the single biggest lever in this dataset is converting a first purchase into a second one. Spending is right-skewed: most customers cluster under $1,000, while a thin tail above $1,000 represents the “whales” worth premium treatment.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Segmentation and Customer Insight Analysis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A CLOSER LOOK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RFM Micro-Segments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34440"/>
          <a:ext cx="694944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680960" y="12801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680960" y="1691640"/>
            <a:ext cx="4023360" cy="1371600"/>
          </a:xfrm>
          <a:prstGeom prst="roundRect">
            <a:avLst>
              <a:gd name="adj" fmla="val 4000"/>
            </a:avLst>
          </a:prstGeom>
          <a:solidFill>
            <a:srgbClr val="EEF2FB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0" y="178308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 but slipping (244, 344 — shown in red): bought often and spent well historically, but recency has dropped. Prime win-back targets before they're lost.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680960" y="3200400"/>
            <a:ext cx="4023360" cy="1371600"/>
          </a:xfrm>
          <a:prstGeom prst="roundRect">
            <a:avLst>
              <a:gd name="adj" fmla="val 4000"/>
            </a:avLst>
          </a:prstGeom>
          <a:solidFill>
            <a:srgbClr val="EEF2FB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0" y="329184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of the best (444 — shown in gold): recent, frequent, high spend. Reward, don't discount.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680960" y="4709160"/>
            <a:ext cx="4023360" cy="1371600"/>
          </a:xfrm>
          <a:prstGeom prst="roundRect">
            <a:avLst>
              <a:gd name="adj" fmla="val 4000"/>
            </a:avLst>
          </a:prstGeom>
          <a:solidFill>
            <a:srgbClr val="EEF2FB"/>
          </a:solidFill>
          <a:ln/>
        </p:spPr>
      </p:sp>
      <p:sp>
        <p:nvSpPr>
          <p:cNvPr id="11" name="Text 8"/>
          <p:cNvSpPr/>
          <p:nvPr/>
        </p:nvSpPr>
        <p:spPr>
          <a:xfrm>
            <a:off x="7863840" y="48006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but low value (421): active and frequent, yet low spend per order — candidates for AOV-boosting bundles.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Segmentation and Customer Insight Analysis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 · WHAT THEY BUY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Preference by Segment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34440"/>
          <a:ext cx="768096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321040" y="1280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321040" y="1691640"/>
            <a:ext cx="3383280" cy="1691640"/>
          </a:xfrm>
          <a:prstGeom prst="roundRect">
            <a:avLst>
              <a:gd name="adj" fmla="val 3243"/>
            </a:avLst>
          </a:prstGeom>
          <a:solidFill>
            <a:srgbClr val="EEF2FB"/>
          </a:solidFill>
          <a:ln/>
        </p:spPr>
      </p:sp>
      <p:sp>
        <p:nvSpPr>
          <p:cNvPr id="7" name="Text 4"/>
          <p:cNvSpPr/>
          <p:nvPr/>
        </p:nvSpPr>
        <p:spPr>
          <a:xfrm>
            <a:off x="8503920" y="1783080"/>
            <a:ext cx="30175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 is the flagship anchor — top performer in Champions (63) and Loyal Customers (90).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321040" y="3566160"/>
            <a:ext cx="3383280" cy="1691640"/>
          </a:xfrm>
          <a:prstGeom prst="roundRect">
            <a:avLst>
              <a:gd name="adj" fmla="val 3243"/>
            </a:avLst>
          </a:prstGeom>
          <a:solidFill>
            <a:srgbClr val="EEF2FB"/>
          </a:solidFill>
          <a:ln/>
        </p:spPr>
      </p:sp>
      <p:sp>
        <p:nvSpPr>
          <p:cNvPr id="9" name="Text 6"/>
          <p:cNvSpPr/>
          <p:nvPr/>
        </p:nvSpPr>
        <p:spPr>
          <a:xfrm>
            <a:off x="8503920" y="3657600"/>
            <a:ext cx="30175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 is the gateway: it spikes among Potential Loyalists (100) but drops off among Champions (49) — a mid-tier product, not yet a loyalty driver.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Segmentation and Customer Insight Analysis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 · WHERE THEY 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 Performance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34440"/>
          <a:ext cx="694944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680960" y="12801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680960" y="1691640"/>
            <a:ext cx="4023360" cy="1371600"/>
          </a:xfrm>
          <a:prstGeom prst="roundRect">
            <a:avLst>
              <a:gd name="adj" fmla="val 4000"/>
            </a:avLst>
          </a:prstGeom>
          <a:solidFill>
            <a:srgbClr val="EEF2FB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0" y="178308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Tokyo leads at $139K, but the four cities are remarkably balanced — no single region dominates the customer base.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680960" y="3200400"/>
            <a:ext cx="4023360" cy="1371600"/>
          </a:xfrm>
          <a:prstGeom prst="roundRect">
            <a:avLst>
              <a:gd name="adj" fmla="val 4000"/>
            </a:avLst>
          </a:prstGeom>
          <a:solidFill>
            <a:srgbClr val="EEF2FB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0" y="329184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 trails by roughly $27K vs. Tokyo, driven by fewer transactions rather than lower spend per order — worth a closer look at local demand.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680960" y="4709160"/>
            <a:ext cx="4023360" cy="1371600"/>
          </a:xfrm>
          <a:prstGeom prst="roundRect">
            <a:avLst>
              <a:gd name="adj" fmla="val 4000"/>
            </a:avLst>
          </a:prstGeom>
          <a:solidFill>
            <a:srgbClr val="EEF2FB"/>
          </a:solidFill>
          <a:ln/>
        </p:spPr>
      </p:sp>
      <p:sp>
        <p:nvSpPr>
          <p:cNvPr id="11" name="Text 8"/>
          <p:cNvSpPr/>
          <p:nvPr/>
        </p:nvSpPr>
        <p:spPr>
          <a:xfrm>
            <a:off x="7863840" y="48006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city carries a full mix of Champions through At Risk customers, so segment-based strategy — not just geography — should guide targeting.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Segmentation and Customer Insight Analysis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 · WHEN THEY BUY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Purchase Timing Patterns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34440"/>
          <a:ext cx="694944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680960" y="12801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680960" y="1691640"/>
            <a:ext cx="4023360" cy="1371600"/>
          </a:xfrm>
          <a:prstGeom prst="roundRect">
            <a:avLst>
              <a:gd name="adj" fmla="val 4000"/>
            </a:avLst>
          </a:prstGeom>
          <a:solidFill>
            <a:srgbClr val="EEF2FB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0" y="178308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($84.5K) and Wednesday ($76.7K) are the two clear revenue peaks of the week — the best windows for major campaign launches.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680960" y="3200400"/>
            <a:ext cx="4023360" cy="1371600"/>
          </a:xfrm>
          <a:prstGeom prst="roundRect">
            <a:avLst>
              <a:gd name="adj" fmla="val 4000"/>
            </a:avLst>
          </a:prstGeom>
          <a:solidFill>
            <a:srgbClr val="EEF2FB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0" y="329184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($65.1K) and Tuesday ($67.7K) are the quietest days — strong candidates for off-peak promotions to smooth weekly revenue.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680960" y="4709160"/>
            <a:ext cx="4023360" cy="1371600"/>
          </a:xfrm>
          <a:prstGeom prst="roundRect">
            <a:avLst>
              <a:gd name="adj" fmla="val 4000"/>
            </a:avLst>
          </a:prstGeom>
          <a:solidFill>
            <a:srgbClr val="EEF2FB"/>
          </a:solidFill>
          <a:ln/>
        </p:spPr>
      </p:sp>
      <p:sp>
        <p:nvSpPr>
          <p:cNvPr id="11" name="Text 8"/>
          <p:cNvSpPr/>
          <p:nvPr/>
        </p:nvSpPr>
        <p:spPr>
          <a:xfrm>
            <a:off x="7863840" y="48006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2023 was the strongest month overall ($267K of the ~2-month total) — timing campaigns around this seasonal peak compounds the weekday effect.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Segmentation and Customer Insight Analysis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572000"/>
            <a:ext cx="5029200" cy="50292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STORY, SUMMARIZED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Recommendations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946 customers fall into 5 clear tiers. A small, loyal core (Champions + Loyal) drives 64% of revenue, a healthy middle is ready to move up, and a contained at-risk group needs a nudge before it's lost. The path forward is to protect, nurture, and win back — in that order.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24316F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2350008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3500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22860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the Champions &amp; Loyal Customers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17320" y="2679192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perks, early access, exclusive service — 63.7% of revenue rides on retaining them.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63640" y="214884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24316F"/>
          </a:solidFill>
          <a:ln/>
        </p:spPr>
      </p:sp>
      <p:sp>
        <p:nvSpPr>
          <p:cNvPr id="12" name="Shape 10"/>
          <p:cNvSpPr/>
          <p:nvPr/>
        </p:nvSpPr>
        <p:spPr>
          <a:xfrm>
            <a:off x="6464808" y="2350008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6464808" y="23500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132320" y="22860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Nurture Potential Loyalists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32320" y="2679192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cross-sell and loyalty incentives to move 334 customers up a tier.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584448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24316F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3785616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37856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17320" y="372160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 one-time buyers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17320" y="411480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“Second purchase” offers to move 895 single-order customers toward repeat behavior.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63640" y="3584448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24316F"/>
          </a:solidFill>
          <a:ln/>
        </p:spPr>
      </p:sp>
      <p:sp>
        <p:nvSpPr>
          <p:cNvPr id="22" name="Shape 20"/>
          <p:cNvSpPr/>
          <p:nvPr/>
        </p:nvSpPr>
        <p:spPr>
          <a:xfrm>
            <a:off x="6464808" y="3785616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3" name="Text 21"/>
          <p:cNvSpPr/>
          <p:nvPr/>
        </p:nvSpPr>
        <p:spPr>
          <a:xfrm>
            <a:off x="6464808" y="37856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132320" y="372160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 back At-Risk &amp; 244/344 codes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32320" y="411480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“we miss you” campaigns before high-value, high-recency customers churn.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5020056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24316F"/>
          </a:solidFill>
          <a:ln/>
        </p:spPr>
      </p:sp>
      <p:sp>
        <p:nvSpPr>
          <p:cNvPr id="27" name="Shape 25"/>
          <p:cNvSpPr/>
          <p:nvPr/>
        </p:nvSpPr>
        <p:spPr>
          <a:xfrm>
            <a:off x="749808" y="5221224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" y="52212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17320" y="5157216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 down on Product C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417320" y="5550408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premium/upgrade lines around the flagship product anchoring top segments.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63640" y="5020056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24316F"/>
          </a:solidFill>
          <a:ln/>
        </p:spPr>
      </p:sp>
      <p:sp>
        <p:nvSpPr>
          <p:cNvPr id="32" name="Shape 30"/>
          <p:cNvSpPr/>
          <p:nvPr/>
        </p:nvSpPr>
        <p:spPr>
          <a:xfrm>
            <a:off x="6464808" y="5221224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3" name="Text 31"/>
          <p:cNvSpPr/>
          <p:nvPr/>
        </p:nvSpPr>
        <p:spPr>
          <a:xfrm>
            <a:off x="6464808" y="52212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132320" y="5157216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campaigns to peaks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132320" y="5550408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Saturday &amp; Wednesday pushes; use Sunday/Tuesday for off-peak offers.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Segmentation and Customer Insight Analysis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2026-08-15T17:49:39Z</dcterms:created>
  <dcterms:modified xsi:type="dcterms:W3CDTF">2026-08-15T17:49:39Z</dcterms:modified>
</cp:coreProperties>
</file>